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Professional home services, simplified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ELECTROCARE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9728" cy="324612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5852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ElectroCare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88920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D5E8F7"/>
                </a:solidFill>
                <a:latin typeface="Aptos"/>
              </a:rPr>
              <a:t>Electrical and appliance service management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749039"/>
            <a:ext cx="5303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ED3E5"/>
                </a:solidFill>
                <a:latin typeface="Aptos"/>
              </a:rPr>
              <a:t>A responsive React experience connecting customers with trusted service professionals.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28800"/>
            <a:ext cx="3931920" cy="3474720"/>
          </a:xfrm>
          <a:prstGeom prst="roundRect">
            <a:avLst>
              <a:gd name="adj" fmla="val 12000"/>
            </a:avLst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33172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5A623"/>
                </a:solidFill>
                <a:latin typeface="Aptos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32461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7947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3434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617220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AC5DB"/>
                </a:solidFill>
                <a:latin typeface="Aptos"/>
              </a:rPr>
              <a:t>Built with React + Vite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01 |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42B56"/>
                </a:solidFill>
                <a:latin typeface="Aptos"/>
              </a:rPr>
              <a:t>The service experience we are improving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E7BC2"/>
                </a:solidFill>
                <a:latin typeface="Aptos"/>
              </a:rPr>
              <a:t>ELECTROCARE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283464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28346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29968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Scattered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3063239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Customers often search across multiple channels to find the right technician for an appliance or electrical issue.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74720" cy="283464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73152" cy="2834640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029968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Unclear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3063239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Without a central request view, it is difficult to know whether a service is pending, accepted, or completed.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283464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2834640"/>
          </a:xfrm>
          <a:prstGeom prst="rect">
            <a:avLst/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29968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Low trust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87168"/>
            <a:ext cx="3063239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Reviews, service details, and professional information are frequently disconnected from the booking journey.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42B56"/>
                </a:solidFill>
                <a:latin typeface="Aptos"/>
              </a:rPr>
              <a:t>ElectroCare brings the journey into one focused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6C7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02 |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42B56"/>
                </a:solidFill>
                <a:latin typeface="Aptos"/>
              </a:rPr>
              <a:t>One platform for the complete service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E7BC2"/>
                </a:solidFill>
                <a:latin typeface="Aptos"/>
              </a:rPr>
              <a:t>ELECTROCARE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7BC2"/>
                </a:solidFill>
                <a:latin typeface="Aptos"/>
              </a:rPr>
              <a:t>CUSTOMER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74519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7BC2"/>
                </a:solidFill>
                <a:latin typeface="Aptos"/>
              </a:rPr>
              <a:t>PROFESSIONAL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6243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Discover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8620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788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Book and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3317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26243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Receive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88620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41788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Update work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468880"/>
            <a:ext cx="4572000" cy="2377440"/>
          </a:xfrm>
          <a:prstGeom prst="roundRect">
            <a:avLst>
              <a:gd name="adj" fmla="val 12000"/>
            </a:avLst>
          </a:prstGeom>
          <a:solidFill>
            <a:srgbClr val="042B56"/>
          </a:solidFill>
          <a:ln>
            <a:solidFill>
              <a:srgbClr val="04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94436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ELECTROCARE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474720"/>
            <a:ext cx="3840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Shared service request
and status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577840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C7E"/>
                </a:solidFill>
                <a:latin typeface="Aptos"/>
              </a:rPr>
              <a:t>A single, approachable interface for booking, tracking, and trust.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6C7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03 | PRODUCT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42B56"/>
                </a:solidFill>
                <a:latin typeface="Aptos"/>
              </a:rPr>
              <a:t>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E7BC2"/>
                </a:solidFill>
                <a:latin typeface="Aptos"/>
              </a:rPr>
              <a:t>ELECTROCARE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73152" cy="1600200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Service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24 service categories with icons, imagery, pricing, and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73152" cy="160020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470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Customer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0428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Registration, login, dashboard, booking, request tracking, and reviews.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73152" cy="1600200"/>
          </a:xfrm>
          <a:prstGeom prst="rect">
            <a:avLst/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84708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Electrician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0428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Professional registration, login, dashboard, and request status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73152" cy="1600200"/>
          </a:xfrm>
          <a:prstGeom prst="rect">
            <a:avLst/>
          </a:prstGeom>
          <a:solidFill>
            <a:srgbClr val="2D9A69"/>
          </a:solidFill>
          <a:ln>
            <a:solidFill>
              <a:srgbClr val="2D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959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Booking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45312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Service, date, time, address, and problem description captured in one 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9476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794760"/>
            <a:ext cx="73152" cy="1600200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959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Trust and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5312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About, help, contact details, and post-service customer reviews.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794760"/>
            <a:ext cx="3383280" cy="160020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94760"/>
            <a:ext cx="73152" cy="160020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9959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Responsive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453128"/>
            <a:ext cx="2971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Clear navigation, cards, forms, and visual hierarchy for desktop and mobile.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6C7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04 |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42B56"/>
                </a:solidFill>
                <a:latin typeface="Aptos"/>
              </a:rPr>
              <a:t>Customer journey: from need to completed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E7BC2"/>
                </a:solidFill>
                <a:latin typeface="Aptos"/>
              </a:rPr>
              <a:t>ELECTROCARE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221992"/>
            <a:ext cx="1371600" cy="914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044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C7E"/>
                </a:solidFill>
                <a:latin typeface="Aptos"/>
              </a:rPr>
              <a:t>Browse service categories and search for the right repair or installation.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8288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221992"/>
            <a:ext cx="1371600" cy="914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0632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Authenticate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52044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C7E"/>
                </a:solidFill>
                <a:latin typeface="Aptos"/>
              </a:rPr>
              <a:t>Use the customer login or create an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18288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221992"/>
            <a:ext cx="1371600" cy="914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0632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52044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C7E"/>
                </a:solidFill>
                <a:latin typeface="Aptos"/>
              </a:rPr>
              <a:t>Select date, time, address, and describe the problem.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18288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221992"/>
            <a:ext cx="1371600" cy="9144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30632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2044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C7E"/>
                </a:solidFill>
                <a:latin typeface="Aptos"/>
              </a:rPr>
              <a:t>Review requests and current status from the customer dashboard.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0E7BC2"/>
          </a:solidFill>
          <a:ln>
            <a:solidFill>
              <a:srgbClr val="0E7B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01168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06324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2B56"/>
                </a:solidFill>
                <a:latin typeface="Aptos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3520440"/>
            <a:ext cx="2148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C7E"/>
                </a:solidFill>
                <a:latin typeface="Aptos"/>
              </a:rPr>
              <a:t>Rate and comment after the service is completed.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42B56"/>
                </a:solidFill>
                <a:latin typeface="Aptos"/>
              </a:rPr>
              <a:t>Designed to reduce friction at every handoff.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6C7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05 |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42B56"/>
                </a:solidFill>
                <a:latin typeface="Aptos"/>
              </a:rPr>
              <a:t>Professional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E7BC2"/>
                </a:solidFill>
                <a:latin typeface="Aptos"/>
              </a:rPr>
              <a:t>ELECTROCARE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52760" cy="361188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E7BC2"/>
                </a:solidFill>
                <a:latin typeface="Aptos"/>
              </a:rPr>
              <a:t>ELECTRICIAN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42B56"/>
                </a:solidFill>
                <a:latin typeface="Aptos"/>
              </a:rPr>
              <a:t>A focused workspace for managing incoming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246120"/>
            <a:ext cx="41605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3741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ptos"/>
              </a:rPr>
              <a:t>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3374136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Specialization, experience, and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246120"/>
            <a:ext cx="41605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3741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ptos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3374136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View customer service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297679"/>
            <a:ext cx="41605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425695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ptos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425695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Update work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297679"/>
            <a:ext cx="41605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425695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Aptos"/>
              </a:rPr>
              <a:t>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4425695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C7E"/>
                </a:solidFill>
                <a:latin typeface="Aptos"/>
              </a:rPr>
              <a:t>Access help and contact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6C7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06 |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42B56"/>
                </a:solidFill>
                <a:latin typeface="Aptos"/>
              </a:rPr>
              <a:t>Technology and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E7BC2"/>
                </a:solidFill>
                <a:latin typeface="Aptos"/>
              </a:rPr>
              <a:t>ELECTROCARE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3566160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95728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React 19
Vite 7
JavaScript / JSX
CSS3 responsive styling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73152" cy="3566160"/>
          </a:xfrm>
          <a:prstGeom prst="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38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Application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95728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Single-page experience
State-driven navigation
Controlled forms
Reusable visual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383280" cy="3566160"/>
          </a:xfrm>
          <a:prstGeom prst="roundRect">
            <a:avLst>
              <a:gd name="adj" fmla="val 12000"/>
            </a:avLst>
          </a:prstGeom>
          <a:solidFill>
            <a:srgbClr val="EEF7FC"/>
          </a:solidFill>
          <a:ln>
            <a:solidFill>
              <a:srgbClr val="EE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3566160"/>
          </a:xfrm>
          <a:prstGeom prst="rect">
            <a:avLst/>
          </a:prstGeom>
          <a:solidFill>
            <a:srgbClr val="2D9A69"/>
          </a:solidFill>
          <a:ln>
            <a:solidFill>
              <a:srgbClr val="2D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938528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42B56"/>
                </a:solidFill>
                <a:latin typeface="Aptos"/>
              </a:rPr>
              <a:t>Validation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95728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C7E"/>
                </a:solidFill>
                <a:latin typeface="Aptos"/>
              </a:rPr>
              <a:t>Development server runs
Production build passes
Login input remount issue fixed
Browser rendering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42B56"/>
                </a:solidFill>
                <a:latin typeface="Aptos"/>
              </a:rPr>
              <a:t>Current implementation is intentionally lightweight and frontend-first.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6C7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CADEB"/>
          </a:solidFill>
          <a:ln>
            <a:solidFill>
              <a:srgbClr val="1CA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07 |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42B56"/>
                </a:solidFill>
                <a:latin typeface="Aptos"/>
              </a:rPr>
              <a:t>Current status and 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E7BC2"/>
                </a:solidFill>
                <a:latin typeface="Aptos"/>
              </a:rPr>
              <a:t>ELECTROCARE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9A69"/>
                </a:solidFill>
                <a:latin typeface="Aptos"/>
              </a:rPr>
              <a:t>READY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D2A39"/>
                </a:solidFill>
                <a:latin typeface="Aptos"/>
              </a:defRPr>
            </a:pPr>
            <a:r>
              <a:t>• Interactive home, catalog, auth, dashboard, booking, review, help, and contact flows</a:t>
            </a:r>
          </a:p>
          <a:p>
            <a:pPr>
              <a:spcAft>
                <a:spcPts val="1000"/>
              </a:spcAft>
              <a:defRPr sz="1600">
                <a:solidFill>
                  <a:srgbClr val="1D2A39"/>
                </a:solidFill>
                <a:latin typeface="Aptos"/>
              </a:defRPr>
            </a:pPr>
            <a:r>
              <a:t>• Local Vite server and production build are working</a:t>
            </a:r>
          </a:p>
          <a:p>
            <a:pPr>
              <a:spcAft>
                <a:spcPts val="1000"/>
              </a:spcAft>
              <a:defRPr sz="1600">
                <a:solidFill>
                  <a:srgbClr val="1D2A39"/>
                </a:solidFill>
                <a:latin typeface="Aptos"/>
              </a:defRPr>
            </a:pPr>
            <a:r>
              <a:t>• Customer and electrician journeys are represented in the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Aptos"/>
              </a:rPr>
              <a:t>NEXT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D2A39"/>
                </a:solidFill>
                <a:latin typeface="Aptos"/>
              </a:defRPr>
            </a:pPr>
            <a:r>
              <a:t>• Add backend API and persistent database storage</a:t>
            </a:r>
          </a:p>
          <a:p>
            <a:pPr>
              <a:spcAft>
                <a:spcPts val="1000"/>
              </a:spcAft>
              <a:defRPr sz="1600">
                <a:solidFill>
                  <a:srgbClr val="1D2A39"/>
                </a:solidFill>
                <a:latin typeface="Aptos"/>
              </a:defRPr>
            </a:pPr>
            <a:r>
              <a:t>• Replace demo authentication with secure account validation</a:t>
            </a:r>
          </a:p>
          <a:p>
            <a:pPr>
              <a:spcAft>
                <a:spcPts val="1000"/>
              </a:spcAft>
              <a:defRPr sz="1600">
                <a:solidFill>
                  <a:srgbClr val="1D2A39"/>
                </a:solidFill>
                <a:latin typeface="Aptos"/>
              </a:defRPr>
            </a:pPr>
            <a:r>
              <a:t>• Add notifications, payments, availability, and technician matching</a:t>
            </a:r>
          </a:p>
          <a:p>
            <a:pPr>
              <a:spcAft>
                <a:spcPts val="1000"/>
              </a:spcAft>
              <a:defRPr sz="1600">
                <a:solidFill>
                  <a:srgbClr val="1D2A39"/>
                </a:solidFill>
                <a:latin typeface="Aptos"/>
              </a:defRPr>
            </a:pPr>
            <a:r>
              <a:t>• Add automated unit, integration, and end-to-end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66360"/>
            <a:ext cx="10515600" cy="594360"/>
          </a:xfrm>
          <a:prstGeom prst="roundRect">
            <a:avLst>
              <a:gd name="adj" fmla="val 12000"/>
            </a:avLst>
          </a:prstGeom>
          <a:solidFill>
            <a:srgbClr val="FFF6E0"/>
          </a:solidFill>
          <a:ln>
            <a:solidFill>
              <a:srgbClr val="FFF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358384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855B12"/>
                </a:solidFill>
                <a:latin typeface="Aptos"/>
              </a:rPr>
              <a:t>Important: current login and registration are frontend demonstrations; accounts are not persisted yet.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B6C7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2B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A623"/>
                </a:solidFill>
                <a:latin typeface="Aptos"/>
              </a:rPr>
              <a:t>ELECTROCARE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50292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ELECTROCARE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Professional service, one simple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5A623"/>
                </a:solidFill>
                <a:latin typeface="Aptos"/>
              </a:rPr>
              <a:t>ElectroCare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0E4F4"/>
                </a:solidFill>
                <a:latin typeface="Aptos"/>
              </a:rPr>
              <a:t>Electrical and home appliance service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ECCE2"/>
                </a:solidFill>
                <a:latin typeface="Aptos"/>
              </a:rPr>
              <a:t>http://127.0.0.1:5173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